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5f02eac5-668b-65d3-cf38-fac719c3b741}">
          <p14:sldIdLst>
            <p14:sldId id="256"/>
          </p14:sldIdLst>
        </p14:section>
        <p14:section name="Problem" id="{5db17ae5-961f-5e2a-0744-cd37801344aa}">
          <p14:sldIdLst>
            <p14:sldId id="257"/>
          </p14:sldIdLst>
        </p14:section>
        <p14:section name="Product" id="{8e4ef4cb-d23e-bde2-2d75-6afc5aae057b}">
          <p14:sldIdLst>
            <p14:sldId id="258"/>
          </p14:sldIdLst>
        </p14:section>
        <p14:section name="How it's built" id="{d594df64-fdfe-6e28-31db-5fa81470dca7}">
          <p14:sldIdLst>
            <p14:sldId id="259"/>
          </p14:sldIdLst>
        </p14:section>
        <p14:section name="Why now and next" id="{93c51c34-db9a-b0a5-3c08-5366aee7b24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HOOK. Look at the room, not the slide.
"On August 29th, Mexico's consumer protection agency compared what families get when they send 400 dollars home. The service with the LOWER fee, a dollar ninety-nine, delivered 6,628 pesos. The one charging 2.99 delivered 6,952. The cheaper fee cost that family 324 pesos, about 19 dollars. Every month.
The fee is the part you see. The exchange rate is where the money goes, and nobody shows you that number before you pay. We built Envío Claro to show it, in Spanish, on the web, by phone, or by WhatsApp voice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[0:25–0:55] PROBLEM.
"Every transfer has three costs: the fee, a markup hidden in the exchange rate, and since January 1st a 1% federal tax if you pay in cash, which a debit card avoids.
Who pays the most? Cash senders. Only 65 to 74% of Central American migrants have a bank account. Remittances are about 30% of Honduras's economy.
Our user is a mom in Corona sending 300 dollars to Honduras every month, paying cash at the bodega. She uses WhatsApp voice memos, not comparison apps. Nobody has ever shown her what the exchange rate costs."
(If you got interview quotes at lunch, say one here: "Today, ___ told 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[0:55–2:00] LIVE DEMO (practice this; it's the moment that wins Functionality).
1) Phone on speaker: "Let me just call it." Dial +1 646 212 2770. Say: "Quiero mandar 300 dólares a Honduras, pago en efectivo." Let it answer (~5 s). Point out: it tells you the cheapest option, the hidden cost, and the 1% tax you can avoid with a debit card.
2) Web: open envio-claro-ahora.base44.app → $300 → México → Efectivo → Ver costo real. Point at the red fee-trap alert ("MoneyGram has the lowest fee, but Finabien delivers more") and the orange 1% tax alert. Tap Escuchar.
3) WhatsApp (show the screenshot or your phone): "And because our families talk in voice memos, you can just send one." Point at "Escuché…".
Backup if Wi-Fi or the call fails: use this slide's screenshot and say "here's the conversation from an hour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[2:00–2:30] HOW IT'S BUILT (keep it fast; judges score Base44 at 20%).
"Base44 is the app families use: the page, the data with every provider's source and date, and the AI summary. The math lives in one place: a cost engine on Daytona, whose tests run inside the sandbox before every deploy. Our tests reproduce Profeco's 324-peso gap exactly.
ElevenLabs gives it a Spanish voice, transcribes voice memos and powers the WhatsApp agent. VAPI runs the phone line, Twilio connects the phone and WhatsApp.
The rule everywhere: the AI explains, it never does the math. And we take no referral fees from any provider. Neutrality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WHY NOW + MODEL + CLOSE.
"Why now: the cash tax started this year, and Banxico's Directo a México program shuts down November 20th with no replacement announced.
Comparison sites like Monito exist, but they serve people already online and they're paid by the providers they rank. We're free for families and we never take a cent from providers. Credit unions, consulates and community organizations license it for their members.
Next: WhatsApp Business approval, live provider quotes, and a pilot with a NYC Financial Empowerment Center.
Try it right now: call the number on the screen.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nvio 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789920" cy="365760"/>
          </a:xfrm>
          <a:prstGeom prst="rect">
            <a:avLst/>
          </a:prstGeom>
          <a:noFill/>
          <a:ln/>
        </p:spPr>
        <p:txBody>
          <a:bodyPr wrap="square" rtlCol="0"/>
          <a:lstStyle>
            <a:lvl1pPr indent="0" marL="0">
              <a:buNone/>
              <a:defRPr lang="en-US" sz="1300" b="1" spc="300" kern="0" dirty="0">
                <a:solidFill>
                  <a:schemeClr val="accent5"/>
                </a:solidFill>
              </a:defRPr>
            </a:lvl1pPr>
          </a:lstStyle>
          <a:p>
            <a:pPr indent="0" marL="0">
              <a:buNone/>
            </a:pPr>
            <a:endParaRPr lang="en-US" sz="1300" dirty="0"/>
          </a:p>
        </p:txBody>
      </p:sp>
      <p:sp>
        <p:nvSpPr>
          <p:cNvPr id="3" name="Text 0"/>
          <p:cNvSpPr/>
          <p:nvPr>
            <p:ph idx="101" type="title" hasCustomPrompt="1"/>
          </p:nvPr>
        </p:nvSpPr>
        <p:spPr>
          <a:xfrm>
            <a:off x="685800" y="960120"/>
            <a:ext cx="10789920" cy="17373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vio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78992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85800" y="822960"/>
            <a:ext cx="10789920" cy="10058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685800" y="6400800"/>
            <a:ext cx="3657600" cy="274320"/>
          </a:xfrm>
          <a:prstGeom prst="rect">
            <a:avLst/>
          </a:prstGeom>
          <a:noFill/>
          <a:ln/>
        </p:spPr>
        <p:txBody>
          <a:bodyPr wrap="square" lIns="0" tIns="0" rIns="0" bIns="0" rtlCol="0" anchor="ctr"/>
          <a:lstStyle/>
          <a:p>
            <a:pPr indent="0" marL="0">
              <a:buNone/>
            </a:pPr>
            <a:r>
              <a:rPr lang="en-US" sz="1000" b="1" dirty="0">
                <a:solidFill>
                  <a:schemeClr val="accent1"/>
                </a:solidFill>
              </a:rPr>
              <a:t>Envío Claro</a:t>
            </a:r>
            <a:endParaRPr lang="en-US" sz="1000" dirty="0"/>
          </a:p>
        </p:txBody>
      </p:sp>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789920" cy="365760"/>
          </a:xfrm>
          <a:prstGeom prst="rect">
            <a:avLst/>
          </a:prstGeom>
          <a:noFill/>
          <a:ln/>
        </p:spPr>
        <p:txBody>
          <a:bodyPr wrap="square" lIns="0" tIns="0" rIns="0" bIns="0" rtlCol="0"/>
          <a:lstStyle/>
          <a:p>
            <a:pPr indent="0" marL="0">
              <a:buNone/>
            </a:pPr>
            <a:r>
              <a:rPr lang="en-US" sz="1300" b="1" spc="300" kern="0" dirty="0">
                <a:solidFill>
                  <a:schemeClr val="accent5"/>
                </a:solidFill>
              </a:rPr>
              <a:t>ENVÍO CLARO · FINANCE TRACK · BANKING THE UNBANKED</a:t>
            </a:r>
            <a:endParaRPr lang="en-US" sz="1300" dirty="0"/>
          </a:p>
        </p:txBody>
      </p:sp>
      <p:sp>
        <p:nvSpPr>
          <p:cNvPr id="3" name="Text 0"/>
          <p:cNvSpPr/>
          <p:nvPr>
            <p:ph idx="101" type="title" hasCustomPrompt="1"/>
          </p:nvPr>
        </p:nvSpPr>
        <p:spPr>
          <a:xfrm>
            <a:off x="685800" y="960120"/>
            <a:ext cx="10789920" cy="1737360"/>
          </a:xfrm>
          <a:prstGeom prst="rect">
            <a:avLst/>
          </a:prstGeom>
          <a:noFill/>
          <a:ln/>
        </p:spPr>
        <p:txBody>
          <a:bodyPr wrap="square" lIns="0" tIns="0" rIns="0" bIns="0" rtlCol="0" anchor="t"/>
          <a:lstStyle/>
          <a:p>
            <a:pPr algn="l" indent="0" marL="0">
              <a:buNone/>
            </a:pPr>
            <a:r>
              <a:rPr lang="en-US" sz="5400" b="1" dirty="0">
                <a:solidFill>
                  <a:schemeClr val="bg1"/>
                </a:solidFill>
              </a:rPr>
              <a:t>“The cheapest fee cost a family </a:t>
            </a:r>
            <a:pPr algn="l" indent="0" marL="0">
              <a:buNone/>
            </a:pPr>
            <a:r>
              <a:rPr lang="en-US" sz="5400" b="1" dirty="0">
                <a:solidFill>
                  <a:schemeClr val="accent5"/>
                </a:solidFill>
              </a:rPr>
              <a:t>324 pesos</a:t>
            </a:r>
            <a:pPr algn="l" indent="0" marL="0">
              <a:buNone/>
            </a:pPr>
            <a:r>
              <a:rPr lang="en-US" sz="5400" b="1" dirty="0">
                <a:solidFill>
                  <a:schemeClr val="bg1"/>
                </a:solidFill>
              </a:rPr>
              <a:t>.”</a:t>
            </a:r>
            <a:endParaRPr lang="en-US" sz="5400" dirty="0"/>
          </a:p>
        </p:txBody>
      </p:sp>
      <p:sp>
        <p:nvSpPr>
          <p:cNvPr id="4" name="compare-0"/>
          <p:cNvSpPr/>
          <p:nvPr/>
        </p:nvSpPr>
        <p:spPr>
          <a:xfrm>
            <a:off x="685800" y="2926080"/>
            <a:ext cx="4206240" cy="1051560"/>
          </a:xfrm>
          <a:prstGeom prst="roundRect">
            <a:avLst>
              <a:gd name="adj" fmla="val 10435"/>
            </a:avLst>
          </a:prstGeom>
          <a:solidFill>
            <a:schemeClr val="bg1">
              <a:alpha val="12000"/>
            </a:schemeClr>
          </a:solidFill>
          <a:ln w="12700">
            <a:solidFill>
              <a:schemeClr val="bg1">
                <a:alpha val="30000"/>
              </a:schemeClr>
            </a:solidFill>
            <a:prstDash val="solid"/>
          </a:ln>
        </p:spPr>
      </p:sp>
      <p:sp>
        <p:nvSpPr>
          <p:cNvPr id="5" name="compare-text-0"/>
          <p:cNvSpPr txBox="1"/>
          <p:nvPr/>
        </p:nvSpPr>
        <p:spPr>
          <a:xfrm>
            <a:off x="914400" y="3017520"/>
            <a:ext cx="3840480" cy="868680"/>
          </a:xfrm>
          <a:prstGeom prst="rect">
            <a:avLst/>
          </a:prstGeom>
          <a:noFill/>
          <a:ln/>
        </p:spPr>
        <p:txBody>
          <a:bodyPr wrap="square" lIns="0" tIns="0" rIns="0" bIns="0" rtlCol="0" anchor="ctr"/>
          <a:lstStyle/>
          <a:p>
            <a:pPr indent="0" marL="0">
              <a:buNone/>
            </a:pPr>
            <a:r>
              <a:rPr lang="en-US" sz="1500" dirty="0">
                <a:solidFill>
                  <a:schemeClr val="bg2"/>
                </a:solidFill>
              </a:rPr>
              <a:t>WorldRemit · fee</a:t>
            </a:r>
            <a:endParaRPr lang="en-US" sz="1500" dirty="0"/>
          </a:p>
          <a:p>
            <a:pPr indent="0" marL="0">
              <a:buNone/>
            </a:pPr>
            <a:r>
              <a:rPr lang="en-US" sz="2600" b="1" dirty="0">
                <a:solidFill>
                  <a:schemeClr val="bg1"/>
                </a:solidFill>
              </a:rPr>
              <a:t>$1.99 → 6,628 MXN</a:t>
            </a:r>
            <a:endParaRPr lang="en-US" sz="1500" dirty="0"/>
          </a:p>
        </p:txBody>
      </p:sp>
      <p:sp>
        <p:nvSpPr>
          <p:cNvPr id="6" name="compare-1"/>
          <p:cNvSpPr/>
          <p:nvPr/>
        </p:nvSpPr>
        <p:spPr>
          <a:xfrm>
            <a:off x="5074920" y="2926080"/>
            <a:ext cx="4206240" cy="1051560"/>
          </a:xfrm>
          <a:prstGeom prst="roundRect">
            <a:avLst>
              <a:gd name="adj" fmla="val 10435"/>
            </a:avLst>
          </a:prstGeom>
          <a:solidFill>
            <a:schemeClr val="bg1">
              <a:alpha val="12000"/>
            </a:schemeClr>
          </a:solidFill>
          <a:ln w="12700">
            <a:solidFill>
              <a:schemeClr val="bg1">
                <a:alpha val="30000"/>
              </a:schemeClr>
            </a:solidFill>
            <a:prstDash val="solid"/>
          </a:ln>
        </p:spPr>
      </p:sp>
      <p:sp>
        <p:nvSpPr>
          <p:cNvPr id="7" name="compare-text-1"/>
          <p:cNvSpPr txBox="1"/>
          <p:nvPr/>
        </p:nvSpPr>
        <p:spPr>
          <a:xfrm>
            <a:off x="5303520" y="3017520"/>
            <a:ext cx="3840480" cy="868680"/>
          </a:xfrm>
          <a:prstGeom prst="rect">
            <a:avLst/>
          </a:prstGeom>
          <a:noFill/>
          <a:ln/>
        </p:spPr>
        <p:txBody>
          <a:bodyPr wrap="square" lIns="0" tIns="0" rIns="0" bIns="0" rtlCol="0" anchor="ctr"/>
          <a:lstStyle/>
          <a:p>
            <a:pPr indent="0" marL="0">
              <a:buNone/>
            </a:pPr>
            <a:r>
              <a:rPr lang="en-US" sz="1500" dirty="0">
                <a:solidFill>
                  <a:schemeClr val="bg2"/>
                </a:solidFill>
              </a:rPr>
              <a:t>Finabien · fee</a:t>
            </a:r>
            <a:endParaRPr lang="en-US" sz="1500" dirty="0"/>
          </a:p>
          <a:p>
            <a:pPr indent="0" marL="0">
              <a:buNone/>
            </a:pPr>
            <a:r>
              <a:rPr lang="en-US" sz="2600" b="1" dirty="0">
                <a:solidFill>
                  <a:schemeClr val="bg1"/>
                </a:solidFill>
              </a:rPr>
              <a:t>$2.99 → 6,952 MXN</a:t>
            </a:r>
            <a:endParaRPr lang="en-US" sz="1500" dirty="0"/>
          </a:p>
        </p:txBody>
      </p:sp>
      <p:sp>
        <p:nvSpPr>
          <p:cNvPr id="8" name="hook-body"/>
          <p:cNvSpPr txBox="1"/>
          <p:nvPr/>
        </p:nvSpPr>
        <p:spPr>
          <a:xfrm>
            <a:off x="685800" y="4297680"/>
            <a:ext cx="10058400" cy="1188720"/>
          </a:xfrm>
          <a:prstGeom prst="rect">
            <a:avLst/>
          </a:prstGeom>
          <a:noFill/>
          <a:ln/>
        </p:spPr>
        <p:txBody>
          <a:bodyPr wrap="square" lIns="0" tIns="0" rIns="0" bIns="0" rtlCol="0" anchor="t"/>
          <a:lstStyle/>
          <a:p>
            <a:pPr indent="0" marL="0">
              <a:buNone/>
            </a:pPr>
            <a:r>
              <a:rPr lang="en-US" sz="2000" dirty="0">
                <a:solidFill>
                  <a:schemeClr val="bg2"/>
                </a:solidFill>
              </a:rPr>
              <a:t>The lower fee delivered less money. The difference was hidden in the exchange rate, and nobody shows senders that number before they pay. </a:t>
            </a:r>
            <a:pPr indent="0" marL="0">
              <a:buNone/>
            </a:pPr>
            <a:r>
              <a:rPr lang="en-US" sz="2000" b="1" dirty="0">
                <a:solidFill>
                  <a:schemeClr val="bg1"/>
                </a:solidFill>
              </a:rPr>
              <a:t>Envío Claro does, in Spanish, on the web, by phone, or by WhatsApp voice memo.</a:t>
            </a:r>
            <a:endParaRPr lang="en-US" sz="2000" dirty="0"/>
          </a:p>
        </p:txBody>
      </p:sp>
      <p:sp>
        <p:nvSpPr>
          <p:cNvPr id="9" name="hook-source"/>
          <p:cNvSpPr txBox="1"/>
          <p:nvPr/>
        </p:nvSpPr>
        <p:spPr>
          <a:xfrm>
            <a:off x="685800" y="6355080"/>
            <a:ext cx="7772400" cy="274320"/>
          </a:xfrm>
          <a:prstGeom prst="rect">
            <a:avLst/>
          </a:prstGeom>
          <a:noFill/>
          <a:ln/>
        </p:spPr>
        <p:txBody>
          <a:bodyPr wrap="square" lIns="0" tIns="0" rIns="0" bIns="0" rtlCol="0" anchor="ctr"/>
          <a:lstStyle/>
          <a:p>
            <a:pPr indent="0" marL="0">
              <a:buNone/>
            </a:pPr>
            <a:r>
              <a:rPr lang="en-US" sz="1000" dirty="0">
                <a:solidFill>
                  <a:schemeClr val="bg2"/>
                </a:solidFill>
              </a:rPr>
              <a:t>Source: Profeco, “Quién es Quién en el envío de dinero”, Aug 29, 2026 · $400 USD → Mexico, bank deposit</a:t>
            </a:r>
            <a:endParaRPr lang="en-US" sz="1000" dirty="0"/>
          </a:p>
        </p:txBody>
      </p:sp>
      <p:sp>
        <p:nvSpPr>
          <p:cNvPr id="10" name="hook-event"/>
          <p:cNvSpPr txBox="1"/>
          <p:nvPr/>
        </p:nvSpPr>
        <p:spPr>
          <a:xfrm>
            <a:off x="7863840" y="6355080"/>
            <a:ext cx="3657600" cy="274320"/>
          </a:xfrm>
          <a:prstGeom prst="rect">
            <a:avLst/>
          </a:prstGeom>
          <a:noFill/>
          <a:ln/>
        </p:spPr>
        <p:txBody>
          <a:bodyPr wrap="square" lIns="0" tIns="0" rIns="0" bIns="0" rtlCol="0" anchor="ctr"/>
          <a:lstStyle/>
          <a:p>
            <a:pPr algn="r" indent="0" marL="0">
              <a:buNone/>
            </a:pPr>
            <a:r>
              <a:rPr lang="en-US" sz="1000" dirty="0">
                <a:solidFill>
                  <a:schemeClr val="bg2"/>
                </a:solidFill>
              </a:rPr>
              <a:t>Latinos x AI Hackathon NYC · Oct 10,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789920" cy="320040"/>
          </a:xfrm>
          <a:prstGeom prst="rect">
            <a:avLst/>
          </a:prstGeom>
          <a:noFill/>
          <a:ln/>
        </p:spPr>
        <p:txBody>
          <a:bodyPr wrap="square" lIns="0" tIns="0" rIns="0" bIns="0" rtlCol="0"/>
          <a:lstStyle/>
          <a:p>
            <a:pPr indent="0" marL="0">
              <a:buNone/>
            </a:pPr>
            <a:r>
              <a:rPr lang="en-US" sz="1200" b="1" spc="300" kern="0" dirty="0">
                <a:solidFill>
                  <a:schemeClr val="accent1"/>
                </a:solidFill>
              </a:rPr>
              <a:t>THE PROBLEM</a:t>
            </a:r>
            <a:endParaRPr lang="en-US" sz="1200" dirty="0"/>
          </a:p>
        </p:txBody>
      </p:sp>
      <p:sp>
        <p:nvSpPr>
          <p:cNvPr id="3" name="Text 0"/>
          <p:cNvSpPr/>
          <p:nvPr>
            <p:ph idx="101" type="title" hasCustomPrompt="1"/>
          </p:nvPr>
        </p:nvSpPr>
        <p:spPr>
          <a:xfrm>
            <a:off x="685800" y="822960"/>
            <a:ext cx="10789920" cy="1005840"/>
          </a:xfrm>
          <a:prstGeom prst="rect">
            <a:avLst/>
          </a:prstGeom>
          <a:noFill/>
          <a:ln/>
        </p:spPr>
        <p:txBody>
          <a:bodyPr wrap="square" lIns="0" tIns="0" rIns="0" bIns="0" rtlCol="0" anchor="t"/>
          <a:lstStyle/>
          <a:p>
            <a:pPr algn="l" indent="0" marL="0">
              <a:buNone/>
            </a:pPr>
            <a:r>
              <a:rPr lang="en-US" sz="3200" b="1" dirty="0">
                <a:solidFill>
                  <a:schemeClr val="tx1"/>
                </a:solidFill>
              </a:rPr>
              <a:t>The fee is the small part; the exchange rate and a new cash tax are where the money goes</a:t>
            </a:r>
            <a:endParaRPr lang="en-US" sz="3200" dirty="0"/>
          </a:p>
        </p:txBody>
      </p:sp>
      <p:sp>
        <p:nvSpPr>
          <p:cNvPr id="4" name="stat-card-0"/>
          <p:cNvSpPr/>
          <p:nvPr/>
        </p:nvSpPr>
        <p:spPr>
          <a:xfrm>
            <a:off x="685800" y="2057400"/>
            <a:ext cx="3429000" cy="2743200"/>
          </a:xfrm>
          <a:prstGeom prst="roundRect">
            <a:avLst>
              <a:gd name="adj" fmla="val 4000"/>
            </a:avLst>
          </a:prstGeom>
          <a:solidFill>
            <a:schemeClr val="bg1"/>
          </a:solidFill>
          <a:ln w="12700">
            <a:solidFill>
              <a:srgbClr val="D9E2DD"/>
            </a:solidFill>
            <a:prstDash val="solid"/>
          </a:ln>
        </p:spPr>
      </p:sp>
      <p:sp>
        <p:nvSpPr>
          <p:cNvPr id="5" name="stat-big-0"/>
          <p:cNvSpPr txBox="1"/>
          <p:nvPr/>
        </p:nvSpPr>
        <p:spPr>
          <a:xfrm>
            <a:off x="960120" y="2240280"/>
            <a:ext cx="2926080" cy="777240"/>
          </a:xfrm>
          <a:prstGeom prst="rect">
            <a:avLst/>
          </a:prstGeom>
          <a:noFill/>
          <a:ln/>
        </p:spPr>
        <p:txBody>
          <a:bodyPr wrap="square" lIns="0" tIns="0" rIns="0" bIns="0" rtlCol="0" anchor="ctr"/>
          <a:lstStyle/>
          <a:p>
            <a:pPr indent="0" marL="0">
              <a:buNone/>
            </a:pPr>
            <a:r>
              <a:rPr lang="en-US" sz="4400" b="1" dirty="0">
                <a:solidFill>
                  <a:schemeClr val="accent3"/>
                </a:solidFill>
              </a:rPr>
              <a:t>3 costs</a:t>
            </a:r>
            <a:endParaRPr lang="en-US" sz="4400" dirty="0"/>
          </a:p>
        </p:txBody>
      </p:sp>
      <p:sp>
        <p:nvSpPr>
          <p:cNvPr id="6" name="stat-body-0"/>
          <p:cNvSpPr txBox="1"/>
          <p:nvPr/>
        </p:nvSpPr>
        <p:spPr>
          <a:xfrm>
            <a:off x="960120" y="3063240"/>
            <a:ext cx="2926080" cy="1280160"/>
          </a:xfrm>
          <a:prstGeom prst="rect">
            <a:avLst/>
          </a:prstGeom>
          <a:noFill/>
          <a:ln/>
        </p:spPr>
        <p:txBody>
          <a:bodyPr wrap="square" lIns="0" tIns="0" rIns="0" bIns="0" rtlCol="0" anchor="t"/>
          <a:lstStyle/>
          <a:p>
            <a:pPr indent="0" marL="0">
              <a:buNone/>
            </a:pPr>
            <a:r>
              <a:rPr lang="en-US" sz="1400" dirty="0">
                <a:solidFill>
                  <a:schemeClr val="tx1"/>
                </a:solidFill>
              </a:rPr>
              <a:t>Fee + a markup hidden in the exchange rate + a 1% federal tax if you pay in cash. Law requires showing the rate, not the markup.</a:t>
            </a:r>
            <a:endParaRPr lang="en-US" sz="1400" dirty="0"/>
          </a:p>
        </p:txBody>
      </p:sp>
      <p:sp>
        <p:nvSpPr>
          <p:cNvPr id="7" name="stat-src-0"/>
          <p:cNvSpPr txBox="1"/>
          <p:nvPr/>
        </p:nvSpPr>
        <p:spPr>
          <a:xfrm>
            <a:off x="960120" y="4343400"/>
            <a:ext cx="2926080" cy="365760"/>
          </a:xfrm>
          <a:prstGeom prst="rect">
            <a:avLst/>
          </a:prstGeom>
          <a:noFill/>
          <a:ln/>
        </p:spPr>
        <p:txBody>
          <a:bodyPr wrap="square" lIns="0" tIns="0" rIns="0" bIns="0" rtlCol="0" anchor="t"/>
          <a:lstStyle/>
          <a:p>
            <a:pPr indent="0" marL="0">
              <a:buNone/>
            </a:pPr>
            <a:r>
              <a:rPr lang="en-US" sz="1000" dirty="0">
                <a:solidFill>
                  <a:schemeClr val="accent6"/>
                </a:solidFill>
              </a:rPr>
              <a:t>CFPB Reg. E §1005.31 · IRC §4475 (since Jan 1, 2026)</a:t>
            </a:r>
            <a:endParaRPr lang="en-US" sz="1000" dirty="0"/>
          </a:p>
        </p:txBody>
      </p:sp>
      <p:sp>
        <p:nvSpPr>
          <p:cNvPr id="8" name="stat-card-1"/>
          <p:cNvSpPr/>
          <p:nvPr/>
        </p:nvSpPr>
        <p:spPr>
          <a:xfrm>
            <a:off x="4343400" y="2057400"/>
            <a:ext cx="3429000" cy="2743200"/>
          </a:xfrm>
          <a:prstGeom prst="roundRect">
            <a:avLst>
              <a:gd name="adj" fmla="val 4000"/>
            </a:avLst>
          </a:prstGeom>
          <a:solidFill>
            <a:schemeClr val="bg1"/>
          </a:solidFill>
          <a:ln w="12700">
            <a:solidFill>
              <a:srgbClr val="D9E2DD"/>
            </a:solidFill>
            <a:prstDash val="solid"/>
          </a:ln>
        </p:spPr>
      </p:sp>
      <p:sp>
        <p:nvSpPr>
          <p:cNvPr id="9" name="stat-big-1"/>
          <p:cNvSpPr txBox="1"/>
          <p:nvPr/>
        </p:nvSpPr>
        <p:spPr>
          <a:xfrm>
            <a:off x="4617720" y="2240280"/>
            <a:ext cx="2926080" cy="777240"/>
          </a:xfrm>
          <a:prstGeom prst="rect">
            <a:avLst/>
          </a:prstGeom>
          <a:noFill/>
          <a:ln/>
        </p:spPr>
        <p:txBody>
          <a:bodyPr wrap="square" lIns="0" tIns="0" rIns="0" bIns="0" rtlCol="0" anchor="ctr"/>
          <a:lstStyle/>
          <a:p>
            <a:pPr indent="0" marL="0">
              <a:buNone/>
            </a:pPr>
            <a:r>
              <a:rPr lang="en-US" sz="4400" b="1" dirty="0">
                <a:solidFill>
                  <a:schemeClr val="accent2"/>
                </a:solidFill>
              </a:rPr>
              <a:t>65–74%</a:t>
            </a:r>
            <a:endParaRPr lang="en-US" sz="4400" dirty="0"/>
          </a:p>
        </p:txBody>
      </p:sp>
      <p:sp>
        <p:nvSpPr>
          <p:cNvPr id="10" name="stat-body-1"/>
          <p:cNvSpPr txBox="1"/>
          <p:nvPr/>
        </p:nvSpPr>
        <p:spPr>
          <a:xfrm>
            <a:off x="4617720" y="3063240"/>
            <a:ext cx="2926080" cy="1280160"/>
          </a:xfrm>
          <a:prstGeom prst="rect">
            <a:avLst/>
          </a:prstGeom>
          <a:noFill/>
          <a:ln/>
        </p:spPr>
        <p:txBody>
          <a:bodyPr wrap="square" lIns="0" tIns="0" rIns="0" bIns="0" rtlCol="0" anchor="t"/>
          <a:lstStyle/>
          <a:p>
            <a:pPr indent="0" marL="0">
              <a:buNone/>
            </a:pPr>
            <a:r>
              <a:rPr lang="en-US" sz="1400" dirty="0">
                <a:solidFill>
                  <a:schemeClr val="tx1"/>
                </a:solidFill>
              </a:rPr>
              <a:t>of Honduran, Guatemalan and Salvadoran migrants have a bank account (vs 84% of Mexicans). Cash senders pay the tax, and comparison apps miss them.</a:t>
            </a:r>
            <a:endParaRPr lang="en-US" sz="1400" dirty="0"/>
          </a:p>
        </p:txBody>
      </p:sp>
      <p:sp>
        <p:nvSpPr>
          <p:cNvPr id="11" name="stat-src-1"/>
          <p:cNvSpPr txBox="1"/>
          <p:nvPr/>
        </p:nvSpPr>
        <p:spPr>
          <a:xfrm>
            <a:off x="4617720" y="4343400"/>
            <a:ext cx="2926080" cy="365760"/>
          </a:xfrm>
          <a:prstGeom prst="rect">
            <a:avLst/>
          </a:prstGeom>
          <a:noFill/>
          <a:ln/>
        </p:spPr>
        <p:txBody>
          <a:bodyPr wrap="square" lIns="0" tIns="0" rIns="0" bIns="0" rtlCol="0" anchor="t"/>
          <a:lstStyle/>
          <a:p>
            <a:pPr indent="0" marL="0">
              <a:buNone/>
            </a:pPr>
            <a:r>
              <a:rPr lang="en-US" sz="1000" dirty="0">
                <a:solidFill>
                  <a:schemeClr val="accent6"/>
                </a:solidFill>
              </a:rPr>
              <a:t>BBVA Research via Telemundo / Crónica, 2026</a:t>
            </a:r>
            <a:endParaRPr lang="en-US" sz="1000" dirty="0"/>
          </a:p>
        </p:txBody>
      </p:sp>
      <p:sp>
        <p:nvSpPr>
          <p:cNvPr id="12" name="stat-card-2"/>
          <p:cNvSpPr/>
          <p:nvPr/>
        </p:nvSpPr>
        <p:spPr>
          <a:xfrm>
            <a:off x="8001000" y="2057400"/>
            <a:ext cx="3429000" cy="2743200"/>
          </a:xfrm>
          <a:prstGeom prst="roundRect">
            <a:avLst>
              <a:gd name="adj" fmla="val 4000"/>
            </a:avLst>
          </a:prstGeom>
          <a:solidFill>
            <a:schemeClr val="bg1"/>
          </a:solidFill>
          <a:ln w="12700">
            <a:solidFill>
              <a:srgbClr val="D9E2DD"/>
            </a:solidFill>
            <a:prstDash val="solid"/>
          </a:ln>
        </p:spPr>
      </p:sp>
      <p:sp>
        <p:nvSpPr>
          <p:cNvPr id="13" name="stat-big-2"/>
          <p:cNvSpPr txBox="1"/>
          <p:nvPr/>
        </p:nvSpPr>
        <p:spPr>
          <a:xfrm>
            <a:off x="8275320" y="2240280"/>
            <a:ext cx="2926080" cy="777240"/>
          </a:xfrm>
          <a:prstGeom prst="rect">
            <a:avLst/>
          </a:prstGeom>
          <a:noFill/>
          <a:ln/>
        </p:spPr>
        <p:txBody>
          <a:bodyPr wrap="square" lIns="0" tIns="0" rIns="0" bIns="0" rtlCol="0" anchor="ctr"/>
          <a:lstStyle/>
          <a:p>
            <a:pPr indent="0" marL="0">
              <a:buNone/>
            </a:pPr>
            <a:r>
              <a:rPr lang="en-US" sz="4400" b="1" dirty="0">
                <a:solidFill>
                  <a:schemeClr val="accent1"/>
                </a:solidFill>
              </a:rPr>
              <a:t>~30%</a:t>
            </a:r>
            <a:endParaRPr lang="en-US" sz="4400" dirty="0"/>
          </a:p>
        </p:txBody>
      </p:sp>
      <p:sp>
        <p:nvSpPr>
          <p:cNvPr id="14" name="stat-body-2"/>
          <p:cNvSpPr txBox="1"/>
          <p:nvPr/>
        </p:nvSpPr>
        <p:spPr>
          <a:xfrm>
            <a:off x="8275320" y="3063240"/>
            <a:ext cx="2926080" cy="1280160"/>
          </a:xfrm>
          <a:prstGeom prst="rect">
            <a:avLst/>
          </a:prstGeom>
          <a:noFill/>
          <a:ln/>
        </p:spPr>
        <p:txBody>
          <a:bodyPr wrap="square" lIns="0" tIns="0" rIns="0" bIns="0" rtlCol="0" anchor="t"/>
          <a:lstStyle/>
          <a:p>
            <a:pPr indent="0" marL="0">
              <a:buNone/>
            </a:pPr>
            <a:r>
              <a:rPr lang="en-US" sz="1400" dirty="0">
                <a:solidFill>
                  <a:schemeClr val="tx1"/>
                </a:solidFill>
              </a:rPr>
              <a:t>of Honduras's GDP is remittances (El Salvador ~27%, Guatemala ~21%). Mexico received $61.7B in 2025.</a:t>
            </a:r>
            <a:endParaRPr lang="en-US" sz="1400" dirty="0"/>
          </a:p>
        </p:txBody>
      </p:sp>
      <p:sp>
        <p:nvSpPr>
          <p:cNvPr id="15" name="stat-src-2"/>
          <p:cNvSpPr txBox="1"/>
          <p:nvPr/>
        </p:nvSpPr>
        <p:spPr>
          <a:xfrm>
            <a:off x="8275320" y="4343400"/>
            <a:ext cx="2926080" cy="365760"/>
          </a:xfrm>
          <a:prstGeom prst="rect">
            <a:avLst/>
          </a:prstGeom>
          <a:noFill/>
          <a:ln/>
        </p:spPr>
        <p:txBody>
          <a:bodyPr wrap="square" lIns="0" tIns="0" rIns="0" bIns="0" rtlCol="0" anchor="t"/>
          <a:lstStyle/>
          <a:p>
            <a:pPr indent="0" marL="0">
              <a:buNone/>
            </a:pPr>
            <a:r>
              <a:rPr lang="en-US" sz="1000" dirty="0">
                <a:solidFill>
                  <a:schemeClr val="accent6"/>
                </a:solidFill>
              </a:rPr>
              <a:t>UPI / Diario El Mundo 2025 · Banxico via Zeta Tijuana, Feb 2026</a:t>
            </a:r>
            <a:endParaRPr lang="en-US" sz="1000" dirty="0"/>
          </a:p>
        </p:txBody>
      </p:sp>
      <p:sp>
        <p:nvSpPr>
          <p:cNvPr id="16" name="monday-card"/>
          <p:cNvSpPr/>
          <p:nvPr/>
        </p:nvSpPr>
        <p:spPr>
          <a:xfrm>
            <a:off x="685800" y="5029200"/>
            <a:ext cx="10744200" cy="1051560"/>
          </a:xfrm>
          <a:prstGeom prst="roundRect">
            <a:avLst>
              <a:gd name="adj" fmla="val 10435"/>
            </a:avLst>
          </a:prstGeom>
          <a:solidFill>
            <a:schemeClr val="bg2"/>
          </a:solidFill>
          <a:ln w="12700">
            <a:solidFill>
              <a:srgbClr val="BFE0D1"/>
            </a:solidFill>
            <a:prstDash val="solid"/>
          </a:ln>
        </p:spPr>
      </p:sp>
      <p:sp>
        <p:nvSpPr>
          <p:cNvPr id="17" name="monday-text"/>
          <p:cNvSpPr txBox="1"/>
          <p:nvPr/>
        </p:nvSpPr>
        <p:spPr>
          <a:xfrm>
            <a:off x="960120" y="5120640"/>
            <a:ext cx="10241280" cy="868680"/>
          </a:xfrm>
          <a:prstGeom prst="rect">
            <a:avLst/>
          </a:prstGeom>
          <a:noFill/>
          <a:ln/>
        </p:spPr>
        <p:txBody>
          <a:bodyPr wrap="square" lIns="0" tIns="0" rIns="0" bIns="0" rtlCol="0" anchor="ctr"/>
          <a:lstStyle/>
          <a:p>
            <a:pPr indent="0" marL="0">
              <a:buNone/>
            </a:pPr>
            <a:r>
              <a:rPr lang="en-US" sz="1600" b="1" dirty="0">
                <a:solidFill>
                  <a:schemeClr val="tx1"/>
                </a:solidFill>
              </a:rPr>
              <a:t>Who it's for on Monday: </a:t>
            </a:r>
            <a:pPr indent="0" marL="0">
              <a:buNone/>
            </a:pPr>
            <a:r>
              <a:rPr lang="en-US" sz="1600" dirty="0">
                <a:solidFill>
                  <a:schemeClr val="tx1"/>
                </a:solidFill>
              </a:rPr>
              <a:t>a mom in Corona, Queens who sends $300 to Honduras every month, pays cash at the bodega counter, prefers WhatsApp voice memos to apps, and has never been told what the exchange rate costs her.</a:t>
            </a:r>
            <a:endParaRPr lang="en-US" sz="1600" dirty="0"/>
          </a:p>
        </p:txBody>
      </p:sp>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789920" cy="320040"/>
          </a:xfrm>
          <a:prstGeom prst="rect">
            <a:avLst/>
          </a:prstGeom>
          <a:noFill/>
          <a:ln/>
        </p:spPr>
        <p:txBody>
          <a:bodyPr wrap="square" lIns="0" tIns="0" rIns="0" bIns="0" rtlCol="0"/>
          <a:lstStyle/>
          <a:p>
            <a:pPr indent="0" marL="0">
              <a:buNone/>
            </a:pPr>
            <a:r>
              <a:rPr lang="en-US" sz="1200" b="1" spc="300" kern="0" dirty="0">
                <a:solidFill>
                  <a:schemeClr val="accent1"/>
                </a:solidFill>
              </a:rPr>
              <a:t>THE PRODUCT: LIVE TODAY</a:t>
            </a:r>
            <a:endParaRPr lang="en-US" sz="1200" dirty="0"/>
          </a:p>
        </p:txBody>
      </p:sp>
      <p:sp>
        <p:nvSpPr>
          <p:cNvPr id="3" name="Text 0"/>
          <p:cNvSpPr/>
          <p:nvPr>
            <p:ph idx="101" type="title" hasCustomPrompt="1"/>
          </p:nvPr>
        </p:nvSpPr>
        <p:spPr>
          <a:xfrm>
            <a:off x="685800" y="822960"/>
            <a:ext cx="10789920" cy="1005840"/>
          </a:xfrm>
          <a:prstGeom prst="rect">
            <a:avLst/>
          </a:prstGeom>
          <a:noFill/>
          <a:ln/>
        </p:spPr>
        <p:txBody>
          <a:bodyPr wrap="square" lIns="0" tIns="0" rIns="0" bIns="0" rtlCol="0" anchor="t"/>
          <a:lstStyle/>
          <a:p>
            <a:pPr algn="l" indent="0" marL="0">
              <a:buNone/>
            </a:pPr>
            <a:r>
              <a:rPr lang="en-US" sz="3200" b="1" dirty="0">
                <a:solidFill>
                  <a:schemeClr val="tx1"/>
                </a:solidFill>
              </a:rPr>
              <a:t>One honest answer, three ways to ask</a:t>
            </a:r>
            <a:endParaRPr lang="en-US" sz="3200" dirty="0"/>
          </a:p>
        </p:txBody>
      </p:sp>
      <p:sp>
        <p:nvSpPr>
          <p:cNvPr id="4" name="chan-dot-0"/>
          <p:cNvSpPr/>
          <p:nvPr/>
        </p:nvSpPr>
        <p:spPr>
          <a:xfrm>
            <a:off x="685800" y="1965960"/>
            <a:ext cx="777240" cy="777240"/>
          </a:xfrm>
          <a:prstGeom prst="ellipse">
            <a:avLst/>
          </a:prstGeom>
          <a:solidFill>
            <a:schemeClr val="bg2"/>
          </a:solidFill>
          <a:ln w="19050">
            <a:solidFill>
              <a:schemeClr val="accent1"/>
            </a:solidFill>
            <a:prstDash val="solid"/>
          </a:ln>
        </p:spPr>
      </p:sp>
      <p:sp>
        <p:nvSpPr>
          <p:cNvPr id="5" name="chan-tag-0"/>
          <p:cNvSpPr txBox="1"/>
          <p:nvPr/>
        </p:nvSpPr>
        <p:spPr>
          <a:xfrm>
            <a:off x="685800" y="1965960"/>
            <a:ext cx="777240" cy="777240"/>
          </a:xfrm>
          <a:prstGeom prst="rect">
            <a:avLst/>
          </a:prstGeom>
          <a:noFill/>
          <a:ln/>
        </p:spPr>
        <p:txBody>
          <a:bodyPr wrap="square" lIns="0" tIns="0" rIns="0" bIns="0" rtlCol="0" anchor="ctr"/>
          <a:lstStyle/>
          <a:p>
            <a:pPr algn="ctr" indent="0" marL="0">
              <a:buNone/>
            </a:pPr>
            <a:r>
              <a:rPr lang="en-US" sz="1100" b="1" dirty="0">
                <a:solidFill>
                  <a:schemeClr val="accent1"/>
                </a:solidFill>
              </a:rPr>
              <a:t>WEB</a:t>
            </a:r>
            <a:endParaRPr lang="en-US" sz="1100" dirty="0"/>
          </a:p>
        </p:txBody>
      </p:sp>
      <p:sp>
        <p:nvSpPr>
          <p:cNvPr id="6" name="chan-text-0"/>
          <p:cNvSpPr txBox="1"/>
          <p:nvPr/>
        </p:nvSpPr>
        <p:spPr>
          <a:xfrm>
            <a:off x="1691640" y="1920240"/>
            <a:ext cx="4572000" cy="1234440"/>
          </a:xfrm>
          <a:prstGeom prst="rect">
            <a:avLst/>
          </a:prstGeom>
          <a:noFill/>
          <a:ln/>
        </p:spPr>
        <p:txBody>
          <a:bodyPr wrap="square" lIns="0" tIns="0" rIns="0" bIns="0" rtlCol="0" anchor="t"/>
          <a:lstStyle/>
          <a:p>
            <a:pPr indent="0" marL="0">
              <a:buNone/>
            </a:pPr>
            <a:r>
              <a:rPr lang="en-US" sz="1800" b="1" dirty="0">
                <a:solidFill>
                  <a:schemeClr val="tx1"/>
                </a:solidFill>
              </a:rPr>
              <a:t>envio-claro-ahora.base44.app</a:t>
            </a:r>
            <a:endParaRPr lang="en-US" sz="1800" dirty="0"/>
          </a:p>
          <a:p>
            <a:pPr indent="0" marL="0">
              <a:buNone/>
            </a:pPr>
            <a:r>
              <a:rPr lang="en-US" sz="1400" dirty="0">
                <a:solidFill>
                  <a:schemeClr val="tx1"/>
                </a:solidFill>
              </a:rPr>
              <a:t>Amount, country, how you pay → every provider ranked by true total cost, plus alerts: fee trap, 1% cash tax, Directo a México closing, scam red flags. Read aloud in Spanish.</a:t>
            </a:r>
            <a:endParaRPr lang="en-US" sz="1800" dirty="0"/>
          </a:p>
        </p:txBody>
      </p:sp>
      <p:sp>
        <p:nvSpPr>
          <p:cNvPr id="7" name="chan-dot-1"/>
          <p:cNvSpPr/>
          <p:nvPr/>
        </p:nvSpPr>
        <p:spPr>
          <a:xfrm>
            <a:off x="685800" y="3337560"/>
            <a:ext cx="777240" cy="777240"/>
          </a:xfrm>
          <a:prstGeom prst="ellipse">
            <a:avLst/>
          </a:prstGeom>
          <a:solidFill>
            <a:schemeClr val="bg2"/>
          </a:solidFill>
          <a:ln w="19050">
            <a:solidFill>
              <a:schemeClr val="accent1"/>
            </a:solidFill>
            <a:prstDash val="solid"/>
          </a:ln>
        </p:spPr>
      </p:sp>
      <p:sp>
        <p:nvSpPr>
          <p:cNvPr id="8" name="chan-tag-1"/>
          <p:cNvSpPr txBox="1"/>
          <p:nvPr/>
        </p:nvSpPr>
        <p:spPr>
          <a:xfrm>
            <a:off x="685800" y="3337560"/>
            <a:ext cx="777240" cy="777240"/>
          </a:xfrm>
          <a:prstGeom prst="rect">
            <a:avLst/>
          </a:prstGeom>
          <a:noFill/>
          <a:ln/>
        </p:spPr>
        <p:txBody>
          <a:bodyPr wrap="square" lIns="0" tIns="0" rIns="0" bIns="0" rtlCol="0" anchor="ctr"/>
          <a:lstStyle/>
          <a:p>
            <a:pPr algn="ctr" indent="0" marL="0">
              <a:buNone/>
            </a:pPr>
            <a:r>
              <a:rPr lang="en-US" sz="1100" b="1" dirty="0">
                <a:solidFill>
                  <a:schemeClr val="accent1"/>
                </a:solidFill>
              </a:rPr>
              <a:t>CALL</a:t>
            </a:r>
            <a:endParaRPr lang="en-US" sz="1100" dirty="0"/>
          </a:p>
        </p:txBody>
      </p:sp>
      <p:sp>
        <p:nvSpPr>
          <p:cNvPr id="9" name="chan-text-1"/>
          <p:cNvSpPr txBox="1"/>
          <p:nvPr/>
        </p:nvSpPr>
        <p:spPr>
          <a:xfrm>
            <a:off x="1691640" y="3291840"/>
            <a:ext cx="4572000" cy="1234440"/>
          </a:xfrm>
          <a:prstGeom prst="rect">
            <a:avLst/>
          </a:prstGeom>
          <a:noFill/>
          <a:ln/>
        </p:spPr>
        <p:txBody>
          <a:bodyPr wrap="square" lIns="0" tIns="0" rIns="0" bIns="0" rtlCol="0" anchor="t"/>
          <a:lstStyle/>
          <a:p>
            <a:pPr indent="0" marL="0">
              <a:buNone/>
            </a:pPr>
            <a:r>
              <a:rPr lang="en-US" sz="1800" b="1" dirty="0">
                <a:solidFill>
                  <a:schemeClr val="tx1"/>
                </a:solidFill>
              </a:rPr>
              <a:t>+1 (646) 212-2770</a:t>
            </a:r>
            <a:endParaRPr lang="en-US" sz="1800" dirty="0"/>
          </a:p>
          <a:p>
            <a:pPr indent="0" marL="0">
              <a:buNone/>
            </a:pPr>
            <a:r>
              <a:rPr lang="en-US" sz="1400" dirty="0">
                <a:solidFill>
                  <a:schemeClr val="tx1"/>
                </a:solidFill>
              </a:rPr>
              <a:t>No smartphone, no reading needed. Say “300 dólares a Honduras, en efectivo” and hear the real cost in a Spanish voice.</a:t>
            </a:r>
            <a:endParaRPr lang="en-US" sz="1800" dirty="0"/>
          </a:p>
        </p:txBody>
      </p:sp>
      <p:sp>
        <p:nvSpPr>
          <p:cNvPr id="10" name="chan-dot-2"/>
          <p:cNvSpPr/>
          <p:nvPr/>
        </p:nvSpPr>
        <p:spPr>
          <a:xfrm>
            <a:off x="685800" y="4709160"/>
            <a:ext cx="777240" cy="777240"/>
          </a:xfrm>
          <a:prstGeom prst="ellipse">
            <a:avLst/>
          </a:prstGeom>
          <a:solidFill>
            <a:schemeClr val="bg2"/>
          </a:solidFill>
          <a:ln w="19050">
            <a:solidFill>
              <a:schemeClr val="accent1"/>
            </a:solidFill>
            <a:prstDash val="solid"/>
          </a:ln>
        </p:spPr>
      </p:sp>
      <p:sp>
        <p:nvSpPr>
          <p:cNvPr id="11" name="chan-tag-2"/>
          <p:cNvSpPr txBox="1"/>
          <p:nvPr/>
        </p:nvSpPr>
        <p:spPr>
          <a:xfrm>
            <a:off x="685800" y="4709160"/>
            <a:ext cx="777240" cy="777240"/>
          </a:xfrm>
          <a:prstGeom prst="rect">
            <a:avLst/>
          </a:prstGeom>
          <a:noFill/>
          <a:ln/>
        </p:spPr>
        <p:txBody>
          <a:bodyPr wrap="square" lIns="0" tIns="0" rIns="0" bIns="0" rtlCol="0" anchor="ctr"/>
          <a:lstStyle/>
          <a:p>
            <a:pPr algn="ctr" indent="0" marL="0">
              <a:buNone/>
            </a:pPr>
            <a:r>
              <a:rPr lang="en-US" sz="1100" b="1" dirty="0">
                <a:solidFill>
                  <a:schemeClr val="accent1"/>
                </a:solidFill>
              </a:rPr>
              <a:t>CHAT</a:t>
            </a:r>
            <a:endParaRPr lang="en-US" sz="1100" dirty="0"/>
          </a:p>
        </p:txBody>
      </p:sp>
      <p:sp>
        <p:nvSpPr>
          <p:cNvPr id="12" name="chan-text-2"/>
          <p:cNvSpPr txBox="1"/>
          <p:nvPr/>
        </p:nvSpPr>
        <p:spPr>
          <a:xfrm>
            <a:off x="1691640" y="4663440"/>
            <a:ext cx="4572000" cy="1234440"/>
          </a:xfrm>
          <a:prstGeom prst="rect">
            <a:avLst/>
          </a:prstGeom>
          <a:noFill/>
          <a:ln/>
        </p:spPr>
        <p:txBody>
          <a:bodyPr wrap="square" lIns="0" tIns="0" rIns="0" bIns="0" rtlCol="0" anchor="t"/>
          <a:lstStyle/>
          <a:p>
            <a:pPr indent="0" marL="0">
              <a:buNone/>
            </a:pPr>
            <a:r>
              <a:rPr lang="en-US" sz="1800" b="1" dirty="0">
                <a:solidFill>
                  <a:schemeClr val="tx1"/>
                </a:solidFill>
              </a:rPr>
              <a:t>WhatsApp: text or voice memo</a:t>
            </a:r>
            <a:endParaRPr lang="en-US" sz="1800" dirty="0"/>
          </a:p>
          <a:p>
            <a:pPr indent="0" marL="0">
              <a:buNone/>
            </a:pPr>
            <a:r>
              <a:rPr lang="en-US" sz="1400" dirty="0">
                <a:solidFill>
                  <a:schemeClr val="tx1"/>
                </a:solidFill>
              </a:rPr>
              <a:t>Ask follow-ups and get patient explanations. It replies “Escuché: …” so people know they were understood.</a:t>
            </a:r>
            <a:endParaRPr lang="en-US" sz="1800" dirty="0"/>
          </a:p>
        </p:txBody>
      </p:sp>
      <p:sp>
        <p:nvSpPr>
          <p:cNvPr id="13" name="chan-note"/>
          <p:cNvSpPr txBox="1"/>
          <p:nvPr/>
        </p:nvSpPr>
        <p:spPr>
          <a:xfrm>
            <a:off x="685800" y="5943600"/>
            <a:ext cx="5577840" cy="365760"/>
          </a:xfrm>
          <a:prstGeom prst="rect">
            <a:avLst/>
          </a:prstGeom>
          <a:noFill/>
          <a:ln/>
        </p:spPr>
        <p:txBody>
          <a:bodyPr wrap="square" lIns="0" tIns="0" rIns="0" bIns="0" rtlCol="0" anchor="ctr"/>
          <a:lstStyle/>
          <a:p>
            <a:pPr indent="0" marL="0">
              <a:buNone/>
            </a:pPr>
            <a:r>
              <a:rPr lang="en-US" sz="1200" i="1" dirty="0">
                <a:solidFill>
                  <a:schemeClr val="accent6"/>
                </a:solidFill>
              </a:rPr>
              <a:t>Same numbers on every channel: one tested cost engine. The AI explains; it never does the math.</a:t>
            </a:r>
            <a:endParaRPr lang="en-US" sz="1200" dirty="0"/>
          </a:p>
        </p:txBody>
      </p:sp>
      <p:pic>
        <p:nvPicPr>
          <p:cNvPr id="14" name="whatsapp-screenshot" descr="WhatsApp: a text question and a voice memo answered in Spanish with real numbers">    </p:cNvPr>
          <p:cNvPicPr>
            <a:picLocks noChangeAspect="1"/>
          </p:cNvPicPr>
          <p:nvPr/>
        </p:nvPicPr>
        <p:blipFill>
          <a:blip r:embed="rId1"/>
          <a:stretch>
            <a:fillRect/>
          </a:stretch>
        </p:blipFill>
        <p:spPr>
          <a:xfrm>
            <a:off x="6537960" y="1874520"/>
            <a:ext cx="4937760" cy="4061706"/>
          </a:xfrm>
          <a:prstGeom prst="rect">
            <a:avLst/>
          </a:prstGeom>
        </p:spPr>
      </p:pic>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789920" cy="320040"/>
          </a:xfrm>
          <a:prstGeom prst="rect">
            <a:avLst/>
          </a:prstGeom>
          <a:noFill/>
          <a:ln/>
        </p:spPr>
        <p:txBody>
          <a:bodyPr wrap="square" lIns="0" tIns="0" rIns="0" bIns="0" rtlCol="0"/>
          <a:lstStyle/>
          <a:p>
            <a:pPr indent="0" marL="0">
              <a:buNone/>
            </a:pPr>
            <a:r>
              <a:rPr lang="en-US" sz="1200" b="1" spc="300" kern="0" dirty="0">
                <a:solidFill>
                  <a:schemeClr val="accent1"/>
                </a:solidFill>
              </a:rPr>
              <a:t>HOW IT'S BUILT</a:t>
            </a:r>
            <a:endParaRPr lang="en-US" sz="1200" dirty="0"/>
          </a:p>
        </p:txBody>
      </p:sp>
      <p:sp>
        <p:nvSpPr>
          <p:cNvPr id="3" name="Text 0"/>
          <p:cNvSpPr/>
          <p:nvPr>
            <p:ph idx="101" type="title" hasCustomPrompt="1"/>
          </p:nvPr>
        </p:nvSpPr>
        <p:spPr>
          <a:xfrm>
            <a:off x="685800" y="822960"/>
            <a:ext cx="10789920" cy="1005840"/>
          </a:xfrm>
          <a:prstGeom prst="rect">
            <a:avLst/>
          </a:prstGeom>
          <a:noFill/>
          <a:ln/>
        </p:spPr>
        <p:txBody>
          <a:bodyPr wrap="square" lIns="0" tIns="0" rIns="0" bIns="0" rtlCol="0" anchor="t"/>
          <a:lstStyle/>
          <a:p>
            <a:pPr algn="l" indent="0" marL="0">
              <a:buNone/>
            </a:pPr>
            <a:r>
              <a:rPr lang="en-US" sz="3200" b="1" dirty="0">
                <a:solidFill>
                  <a:schemeClr val="tx1"/>
                </a:solidFill>
              </a:rPr>
              <a:t>Base44 is the app; every number is sourced, dated and tested</a:t>
            </a:r>
            <a:endParaRPr lang="en-US" sz="3200" dirty="0"/>
          </a:p>
        </p:txBody>
      </p:sp>
      <p:sp>
        <p:nvSpPr>
          <p:cNvPr id="4" name="node-card-0"/>
          <p:cNvSpPr/>
          <p:nvPr/>
        </p:nvSpPr>
        <p:spPr>
          <a:xfrm>
            <a:off x="685800" y="2011680"/>
            <a:ext cx="2011680" cy="1920240"/>
          </a:xfrm>
          <a:prstGeom prst="roundRect">
            <a:avLst>
              <a:gd name="adj" fmla="val 5714"/>
            </a:avLst>
          </a:prstGeom>
          <a:solidFill>
            <a:schemeClr val="bg1"/>
          </a:solidFill>
          <a:ln w="12700">
            <a:solidFill>
              <a:srgbClr val="D9E2DD"/>
            </a:solidFill>
            <a:prstDash val="solid"/>
          </a:ln>
        </p:spPr>
      </p:sp>
      <p:sp>
        <p:nvSpPr>
          <p:cNvPr id="5" name="node-text-0"/>
          <p:cNvSpPr txBox="1"/>
          <p:nvPr/>
        </p:nvSpPr>
        <p:spPr>
          <a:xfrm>
            <a:off x="822960" y="2121408"/>
            <a:ext cx="1737360" cy="1737360"/>
          </a:xfrm>
          <a:prstGeom prst="rect">
            <a:avLst/>
          </a:prstGeom>
          <a:noFill/>
          <a:ln/>
        </p:spPr>
        <p:txBody>
          <a:bodyPr wrap="square" lIns="0" tIns="0" rIns="0" bIns="0" rtlCol="0" anchor="t"/>
          <a:lstStyle/>
          <a:p>
            <a:pPr indent="0" marL="0">
              <a:buNone/>
            </a:pPr>
            <a:r>
              <a:rPr lang="en-US" sz="1600" b="1" dirty="0">
                <a:solidFill>
                  <a:schemeClr val="accent1"/>
                </a:solidFill>
              </a:rPr>
              <a:t>Base44</a:t>
            </a:r>
            <a:endParaRPr lang="en-US" sz="1600" dirty="0"/>
          </a:p>
          <a:p>
            <a:pPr indent="0" marL="0">
              <a:buNone/>
            </a:pPr>
            <a:r>
              <a:rPr lang="en-US" sz="1300" dirty="0">
                <a:solidFill>
                  <a:schemeClr val="tx1"/>
                </a:solidFill>
              </a:rPr>
              <a:t>The web app families use: page, data (providers, corridors, resources, anonymous comparisons), AI Spanish summary, hosting</a:t>
            </a:r>
            <a:endParaRPr lang="en-US" sz="1600" dirty="0"/>
          </a:p>
        </p:txBody>
      </p:sp>
      <p:sp>
        <p:nvSpPr>
          <p:cNvPr id="6" name="node-card-1"/>
          <p:cNvSpPr/>
          <p:nvPr/>
        </p:nvSpPr>
        <p:spPr>
          <a:xfrm>
            <a:off x="2871216" y="2011680"/>
            <a:ext cx="2011680" cy="1920240"/>
          </a:xfrm>
          <a:prstGeom prst="roundRect">
            <a:avLst>
              <a:gd name="adj" fmla="val 5714"/>
            </a:avLst>
          </a:prstGeom>
          <a:solidFill>
            <a:schemeClr val="bg1"/>
          </a:solidFill>
          <a:ln w="12700">
            <a:solidFill>
              <a:srgbClr val="D9E2DD"/>
            </a:solidFill>
            <a:prstDash val="solid"/>
          </a:ln>
        </p:spPr>
      </p:sp>
      <p:sp>
        <p:nvSpPr>
          <p:cNvPr id="7" name="node-text-1"/>
          <p:cNvSpPr txBox="1"/>
          <p:nvPr/>
        </p:nvSpPr>
        <p:spPr>
          <a:xfrm>
            <a:off x="3008376" y="2121408"/>
            <a:ext cx="1737360" cy="1737360"/>
          </a:xfrm>
          <a:prstGeom prst="rect">
            <a:avLst/>
          </a:prstGeom>
          <a:noFill/>
          <a:ln/>
        </p:spPr>
        <p:txBody>
          <a:bodyPr wrap="square" lIns="0" tIns="0" rIns="0" bIns="0" rtlCol="0" anchor="t"/>
          <a:lstStyle/>
          <a:p>
            <a:pPr indent="0" marL="0">
              <a:buNone/>
            </a:pPr>
            <a:r>
              <a:rPr lang="en-US" sz="1600" b="1" dirty="0">
                <a:solidFill>
                  <a:schemeClr val="accent1"/>
                </a:solidFill>
              </a:rPr>
              <a:t>Daytona</a:t>
            </a:r>
            <a:endParaRPr lang="en-US" sz="1600" dirty="0"/>
          </a:p>
          <a:p>
            <a:pPr indent="0" marL="0">
              <a:buNone/>
            </a:pPr>
            <a:r>
              <a:rPr lang="en-US" sz="1300" dirty="0">
                <a:solidFill>
                  <a:schemeClr val="tx1"/>
                </a:solidFill>
              </a:rPr>
              <a:t>Hosts the cost-engine API. Tests run inside the sandbox before every deploy; a failing test blocks the release</a:t>
            </a:r>
            <a:endParaRPr lang="en-US" sz="1600" dirty="0"/>
          </a:p>
        </p:txBody>
      </p:sp>
      <p:sp>
        <p:nvSpPr>
          <p:cNvPr id="8" name="node-card-2"/>
          <p:cNvSpPr/>
          <p:nvPr/>
        </p:nvSpPr>
        <p:spPr>
          <a:xfrm>
            <a:off x="5056632" y="2011680"/>
            <a:ext cx="2011680" cy="1920240"/>
          </a:xfrm>
          <a:prstGeom prst="roundRect">
            <a:avLst>
              <a:gd name="adj" fmla="val 5714"/>
            </a:avLst>
          </a:prstGeom>
          <a:solidFill>
            <a:schemeClr val="bg1"/>
          </a:solidFill>
          <a:ln w="12700">
            <a:solidFill>
              <a:srgbClr val="D9E2DD"/>
            </a:solidFill>
            <a:prstDash val="solid"/>
          </a:ln>
        </p:spPr>
      </p:sp>
      <p:sp>
        <p:nvSpPr>
          <p:cNvPr id="9" name="node-text-2"/>
          <p:cNvSpPr txBox="1"/>
          <p:nvPr/>
        </p:nvSpPr>
        <p:spPr>
          <a:xfrm>
            <a:off x="5193792" y="2121408"/>
            <a:ext cx="1737360" cy="1737360"/>
          </a:xfrm>
          <a:prstGeom prst="rect">
            <a:avLst/>
          </a:prstGeom>
          <a:noFill/>
          <a:ln/>
        </p:spPr>
        <p:txBody>
          <a:bodyPr wrap="square" lIns="0" tIns="0" rIns="0" bIns="0" rtlCol="0" anchor="t"/>
          <a:lstStyle/>
          <a:p>
            <a:pPr indent="0" marL="0">
              <a:buNone/>
            </a:pPr>
            <a:r>
              <a:rPr lang="en-US" sz="1600" b="1" dirty="0">
                <a:solidFill>
                  <a:schemeClr val="accent1"/>
                </a:solidFill>
              </a:rPr>
              <a:t>ElevenLabs</a:t>
            </a:r>
            <a:endParaRPr lang="en-US" sz="1600" dirty="0"/>
          </a:p>
          <a:p>
            <a:pPr indent="0" marL="0">
              <a:buNone/>
            </a:pPr>
            <a:r>
              <a:rPr lang="en-US" sz="1300" dirty="0">
                <a:solidFill>
                  <a:schemeClr val="tx1"/>
                </a:solidFill>
              </a:rPr>
              <a:t>Spanish voice, speech-to-text for voice memos, and the WhatsApp agent that explains in depth</a:t>
            </a:r>
            <a:endParaRPr lang="en-US" sz="1600" dirty="0"/>
          </a:p>
        </p:txBody>
      </p:sp>
      <p:sp>
        <p:nvSpPr>
          <p:cNvPr id="10" name="node-card-3"/>
          <p:cNvSpPr/>
          <p:nvPr/>
        </p:nvSpPr>
        <p:spPr>
          <a:xfrm>
            <a:off x="7242048" y="2011680"/>
            <a:ext cx="2011680" cy="1920240"/>
          </a:xfrm>
          <a:prstGeom prst="roundRect">
            <a:avLst>
              <a:gd name="adj" fmla="val 5714"/>
            </a:avLst>
          </a:prstGeom>
          <a:solidFill>
            <a:schemeClr val="bg1"/>
          </a:solidFill>
          <a:ln w="12700">
            <a:solidFill>
              <a:srgbClr val="D9E2DD"/>
            </a:solidFill>
            <a:prstDash val="solid"/>
          </a:ln>
        </p:spPr>
      </p:sp>
      <p:sp>
        <p:nvSpPr>
          <p:cNvPr id="11" name="node-text-3"/>
          <p:cNvSpPr txBox="1"/>
          <p:nvPr/>
        </p:nvSpPr>
        <p:spPr>
          <a:xfrm>
            <a:off x="7379208" y="2121408"/>
            <a:ext cx="1737360" cy="1737360"/>
          </a:xfrm>
          <a:prstGeom prst="rect">
            <a:avLst/>
          </a:prstGeom>
          <a:noFill/>
          <a:ln/>
        </p:spPr>
        <p:txBody>
          <a:bodyPr wrap="square" lIns="0" tIns="0" rIns="0" bIns="0" rtlCol="0" anchor="t"/>
          <a:lstStyle/>
          <a:p>
            <a:pPr indent="0" marL="0">
              <a:buNone/>
            </a:pPr>
            <a:r>
              <a:rPr lang="en-US" sz="1600" b="1" dirty="0">
                <a:solidFill>
                  <a:schemeClr val="accent1"/>
                </a:solidFill>
              </a:rPr>
              <a:t>VAPI</a:t>
            </a:r>
            <a:endParaRPr lang="en-US" sz="1600" dirty="0"/>
          </a:p>
          <a:p>
            <a:pPr indent="0" marL="0">
              <a:buNone/>
            </a:pPr>
            <a:r>
              <a:rPr lang="en-US" sz="1300" dirty="0">
                <a:solidFill>
                  <a:schemeClr val="tx1"/>
                </a:solidFill>
              </a:rPr>
              <a:t>Spanish phone agent. Calls our quote tool, so it repeats real numbers, never invented ones</a:t>
            </a:r>
            <a:endParaRPr lang="en-US" sz="1600" dirty="0"/>
          </a:p>
        </p:txBody>
      </p:sp>
      <p:sp>
        <p:nvSpPr>
          <p:cNvPr id="12" name="node-card-4"/>
          <p:cNvSpPr/>
          <p:nvPr/>
        </p:nvSpPr>
        <p:spPr>
          <a:xfrm>
            <a:off x="9427464" y="2011680"/>
            <a:ext cx="2011680" cy="1920240"/>
          </a:xfrm>
          <a:prstGeom prst="roundRect">
            <a:avLst>
              <a:gd name="adj" fmla="val 5714"/>
            </a:avLst>
          </a:prstGeom>
          <a:solidFill>
            <a:schemeClr val="bg1"/>
          </a:solidFill>
          <a:ln w="12700">
            <a:solidFill>
              <a:srgbClr val="D9E2DD"/>
            </a:solidFill>
            <a:prstDash val="solid"/>
          </a:ln>
        </p:spPr>
      </p:sp>
      <p:sp>
        <p:nvSpPr>
          <p:cNvPr id="13" name="node-text-4"/>
          <p:cNvSpPr txBox="1"/>
          <p:nvPr/>
        </p:nvSpPr>
        <p:spPr>
          <a:xfrm>
            <a:off x="9564624" y="2121408"/>
            <a:ext cx="1737360" cy="1737360"/>
          </a:xfrm>
          <a:prstGeom prst="rect">
            <a:avLst/>
          </a:prstGeom>
          <a:noFill/>
          <a:ln/>
        </p:spPr>
        <p:txBody>
          <a:bodyPr wrap="square" lIns="0" tIns="0" rIns="0" bIns="0" rtlCol="0" anchor="t"/>
          <a:lstStyle/>
          <a:p>
            <a:pPr indent="0" marL="0">
              <a:buNone/>
            </a:pPr>
            <a:r>
              <a:rPr lang="en-US" sz="1600" b="1" dirty="0">
                <a:solidFill>
                  <a:schemeClr val="accent1"/>
                </a:solidFill>
              </a:rPr>
              <a:t>Twilio</a:t>
            </a:r>
            <a:endParaRPr lang="en-US" sz="1600" dirty="0"/>
          </a:p>
          <a:p>
            <a:pPr indent="0" marL="0">
              <a:buNone/>
            </a:pPr>
            <a:r>
              <a:rPr lang="en-US" sz="1300" dirty="0">
                <a:solidFill>
                  <a:schemeClr val="tx1"/>
                </a:solidFill>
              </a:rPr>
              <a:t>Phone number, WhatsApp, and a Function that receives voice memos</a:t>
            </a:r>
            <a:endParaRPr lang="en-US" sz="1600" dirty="0"/>
          </a:p>
        </p:txBody>
      </p:sp>
      <p:sp>
        <p:nvSpPr>
          <p:cNvPr id="14" name="formula-box"/>
          <p:cNvSpPr/>
          <p:nvPr/>
        </p:nvSpPr>
        <p:spPr>
          <a:xfrm>
            <a:off x="685800" y="4206240"/>
            <a:ext cx="5669280" cy="1234440"/>
          </a:xfrm>
          <a:prstGeom prst="roundRect">
            <a:avLst>
              <a:gd name="adj" fmla="val 8889"/>
            </a:avLst>
          </a:prstGeom>
          <a:solidFill>
            <a:schemeClr val="tx1"/>
          </a:solidFill>
          <a:ln w="12700">
            <a:solidFill>
              <a:schemeClr val="tx1"/>
            </a:solidFill>
            <a:prstDash val="solid"/>
          </a:ln>
        </p:spPr>
      </p:sp>
      <p:sp>
        <p:nvSpPr>
          <p:cNvPr id="15" name="formula-text"/>
          <p:cNvSpPr txBox="1"/>
          <p:nvPr/>
        </p:nvSpPr>
        <p:spPr>
          <a:xfrm>
            <a:off x="914400" y="4297680"/>
            <a:ext cx="5303520" cy="1051560"/>
          </a:xfrm>
          <a:prstGeom prst="rect">
            <a:avLst/>
          </a:prstGeom>
          <a:noFill/>
          <a:ln/>
        </p:spPr>
        <p:txBody>
          <a:bodyPr wrap="square" lIns="0" tIns="0" rIns="0" bIns="0" rtlCol="0" anchor="ctr"/>
          <a:lstStyle/>
          <a:p>
            <a:pPr indent="0" marL="0">
              <a:buNone/>
            </a:pPr>
            <a:r>
              <a:rPr lang="en-US" sz="1400" dirty="0">
                <a:solidFill>
                  <a:schemeClr val="bg2"/>
                </a:solidFill>
                <a:latin typeface="Courier New" pitchFamily="34" charset="0"/>
                <a:ea typeface="Courier New" pitchFamily="34" charset="-122"/>
                <a:cs typeface="Courier New" pitchFamily="34" charset="-120"/>
              </a:rPr>
              <a:t>total_cost = fee + amount × markup + cash_tax</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cash_tax   = 1% × amount  (only if paid in cash)</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received   = amount × mid_rate × (1 − markup)</a:t>
            </a:r>
            <a:endParaRPr lang="en-US" sz="1400" dirty="0"/>
          </a:p>
        </p:txBody>
      </p:sp>
      <p:sp>
        <p:nvSpPr>
          <p:cNvPr id="16" name="formula-note"/>
          <p:cNvSpPr txBox="1"/>
          <p:nvPr/>
        </p:nvSpPr>
        <p:spPr>
          <a:xfrm>
            <a:off x="685800" y="5532120"/>
            <a:ext cx="5669280" cy="548640"/>
          </a:xfrm>
          <a:prstGeom prst="rect">
            <a:avLst/>
          </a:prstGeom>
          <a:noFill/>
          <a:ln/>
        </p:spPr>
        <p:txBody>
          <a:bodyPr wrap="square" lIns="0" tIns="0" rIns="0" bIns="0" rtlCol="0" anchor="t"/>
          <a:lstStyle/>
          <a:p>
            <a:pPr indent="0" marL="0">
              <a:buNone/>
            </a:pPr>
            <a:r>
              <a:rPr lang="en-US" sz="1200" dirty="0">
                <a:solidFill>
                  <a:schemeClr val="accent6"/>
                </a:solidFill>
              </a:rPr>
              <a:t>Our test suite reproduces Profeco's 324-peso gap exactly. Mid-market rate: daily reference (open.er-api.com).</a:t>
            </a:r>
            <a:endParaRPr lang="en-US" sz="1200" dirty="0"/>
          </a:p>
        </p:txBody>
      </p:sp>
      <p:sp>
        <p:nvSpPr>
          <p:cNvPr id="17" name="honesty-list"/>
          <p:cNvSpPr txBox="1"/>
          <p:nvPr/>
        </p:nvSpPr>
        <p:spPr>
          <a:xfrm>
            <a:off x="6675120" y="4206240"/>
            <a:ext cx="48006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Every provider row cites its source and date: Profeco, World Bank Remittance Prices Worldwide, provider sites</a:t>
            </a:r>
            <a:endParaRPr lang="en-US" sz="1400" dirty="0"/>
          </a:p>
          <a:p>
            <a:pPr marL="342900" indent="-342900">
              <a:spcAft>
                <a:spcPts val="600"/>
              </a:spcAft>
              <a:buSzPct val="100000"/>
              <a:buChar char="•"/>
            </a:pPr>
            <a:r>
              <a:rPr lang="en-US" sz="1400" dirty="0">
                <a:solidFill>
                  <a:schemeClr val="tx1"/>
                </a:solidFill>
              </a:rPr>
              <a:t>No referral fees from any provider. Neutrality is the product</a:t>
            </a:r>
            <a:endParaRPr lang="en-US" sz="1400" dirty="0"/>
          </a:p>
          <a:p>
            <a:pPr marL="342900" indent="-342900">
              <a:spcAft>
                <a:spcPts val="600"/>
              </a:spcAft>
              <a:buSzPct val="100000"/>
              <a:buChar char="•"/>
            </a:pPr>
            <a:r>
              <a:rPr lang="en-US" sz="1400" dirty="0">
                <a:solidFill>
                  <a:schemeClr val="tx1"/>
                </a:solidFill>
              </a:rPr>
              <a:t>No accounts. No names, numbers or immigration status stored</a:t>
            </a:r>
            <a:endParaRPr lang="en-US" sz="1400" dirty="0"/>
          </a:p>
          <a:p>
            <a:pPr marL="342900" indent="-342900">
              <a:spcAft>
                <a:spcPts val="600"/>
              </a:spcAft>
              <a:buSzPct val="100000"/>
              <a:buChar char="•"/>
            </a:pPr>
            <a:r>
              <a:rPr lang="en-US" sz="1400" dirty="0">
                <a:solidFill>
                  <a:schemeClr val="tx1"/>
                </a:solidFill>
              </a:rPr>
              <a:t>Educational information, not financial advice. Official hotlines are hardcoded, never AI-generated</a:t>
            </a:r>
            <a:endParaRPr lang="en-US" sz="1400" dirty="0"/>
          </a:p>
        </p:txBody>
      </p:sp>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789920" cy="320040"/>
          </a:xfrm>
          <a:prstGeom prst="rect">
            <a:avLst/>
          </a:prstGeom>
          <a:noFill/>
          <a:ln/>
        </p:spPr>
        <p:txBody>
          <a:bodyPr wrap="square" lIns="0" tIns="0" rIns="0" bIns="0" rtlCol="0"/>
          <a:lstStyle/>
          <a:p>
            <a:pPr indent="0" marL="0">
              <a:buNone/>
            </a:pPr>
            <a:r>
              <a:rPr lang="en-US" sz="1200" b="1" spc="300" kern="0" dirty="0">
                <a:solidFill>
                  <a:schemeClr val="accent1"/>
                </a:solidFill>
              </a:rPr>
              <a:t>WHY NOW · BUSINESS MODEL · NEXT</a:t>
            </a:r>
            <a:endParaRPr lang="en-US" sz="1200" dirty="0"/>
          </a:p>
        </p:txBody>
      </p:sp>
      <p:sp>
        <p:nvSpPr>
          <p:cNvPr id="3" name="Text 0"/>
          <p:cNvSpPr/>
          <p:nvPr>
            <p:ph idx="101" type="title" hasCustomPrompt="1"/>
          </p:nvPr>
        </p:nvSpPr>
        <p:spPr>
          <a:xfrm>
            <a:off x="685800" y="822960"/>
            <a:ext cx="10789920" cy="1005840"/>
          </a:xfrm>
          <a:prstGeom prst="rect">
            <a:avLst/>
          </a:prstGeom>
          <a:noFill/>
          <a:ln/>
        </p:spPr>
        <p:txBody>
          <a:bodyPr wrap="square" lIns="0" tIns="0" rIns="0" bIns="0" rtlCol="0" anchor="t"/>
          <a:lstStyle/>
          <a:p>
            <a:pPr algn="l" indent="0" marL="0">
              <a:buNone/>
            </a:pPr>
            <a:r>
              <a:rPr lang="en-US" sz="3200" b="1" dirty="0">
                <a:solidFill>
                  <a:schemeClr val="tx1"/>
                </a:solidFill>
              </a:rPr>
              <a:t>Comparison sites serve people already online; we serve the person in line with cash</a:t>
            </a:r>
            <a:endParaRPr lang="en-US" sz="3200" dirty="0"/>
          </a:p>
        </p:txBody>
      </p:sp>
      <p:sp>
        <p:nvSpPr>
          <p:cNvPr id="4" name="col-card-0"/>
          <p:cNvSpPr/>
          <p:nvPr/>
        </p:nvSpPr>
        <p:spPr>
          <a:xfrm>
            <a:off x="685800" y="2057400"/>
            <a:ext cx="3429000" cy="2834640"/>
          </a:xfrm>
          <a:prstGeom prst="roundRect">
            <a:avLst>
              <a:gd name="adj" fmla="val 3871"/>
            </a:avLst>
          </a:prstGeom>
          <a:solidFill>
            <a:schemeClr val="bg1"/>
          </a:solidFill>
          <a:ln w="12700">
            <a:solidFill>
              <a:srgbClr val="D9E2DD"/>
            </a:solidFill>
            <a:prstDash val="solid"/>
          </a:ln>
        </p:spPr>
      </p:sp>
      <p:sp>
        <p:nvSpPr>
          <p:cNvPr id="5" name="col-pill-0"/>
          <p:cNvSpPr/>
          <p:nvPr/>
        </p:nvSpPr>
        <p:spPr>
          <a:xfrm>
            <a:off x="960120" y="2240280"/>
            <a:ext cx="1463040" cy="365760"/>
          </a:xfrm>
          <a:prstGeom prst="roundRect">
            <a:avLst>
              <a:gd name="adj" fmla="val 50000"/>
            </a:avLst>
          </a:prstGeom>
          <a:solidFill>
            <a:schemeClr val="bg2"/>
          </a:solidFill>
          <a:ln w="12700">
            <a:solidFill>
              <a:schemeClr val="bg2"/>
            </a:solidFill>
            <a:prstDash val="solid"/>
          </a:ln>
        </p:spPr>
      </p:sp>
      <p:sp>
        <p:nvSpPr>
          <p:cNvPr id="6" name="col-head-0"/>
          <p:cNvSpPr txBox="1"/>
          <p:nvPr/>
        </p:nvSpPr>
        <p:spPr>
          <a:xfrm>
            <a:off x="960120" y="2240280"/>
            <a:ext cx="1463040" cy="365760"/>
          </a:xfrm>
          <a:prstGeom prst="rect">
            <a:avLst/>
          </a:prstGeom>
          <a:noFill/>
          <a:ln/>
        </p:spPr>
        <p:txBody>
          <a:bodyPr wrap="square" lIns="0" tIns="0" rIns="0" bIns="0" rtlCol="0" anchor="ctr"/>
          <a:lstStyle/>
          <a:p>
            <a:pPr algn="ctr" indent="0" marL="0">
              <a:buNone/>
            </a:pPr>
            <a:r>
              <a:rPr lang="en-US" sz="1200" b="1" dirty="0">
                <a:solidFill>
                  <a:schemeClr val="accent1"/>
                </a:solidFill>
              </a:rPr>
              <a:t>Why now</a:t>
            </a:r>
            <a:endParaRPr lang="en-US" sz="1200" dirty="0"/>
          </a:p>
        </p:txBody>
      </p:sp>
      <p:sp>
        <p:nvSpPr>
          <p:cNvPr id="7" name="col-list-0"/>
          <p:cNvSpPr txBox="1"/>
          <p:nvPr/>
        </p:nvSpPr>
        <p:spPr>
          <a:xfrm>
            <a:off x="960120" y="2743200"/>
            <a:ext cx="29260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 cash-remittance tax since Jan 1, 2026</a:t>
            </a:r>
            <a:endParaRPr lang="en-US" sz="1400" dirty="0"/>
          </a:p>
          <a:p>
            <a:pPr marL="342900" indent="-342900">
              <a:spcAft>
                <a:spcPts val="600"/>
              </a:spcAft>
              <a:buSzPct val="100000"/>
              <a:buChar char="•"/>
            </a:pPr>
            <a:r>
              <a:rPr lang="en-US" sz="1400" dirty="0">
                <a:solidFill>
                  <a:schemeClr val="tx1"/>
                </a:solidFill>
              </a:rPr>
              <a:t>Banxico's Directo a México closes Nov 20, 2026, with no announced replacement</a:t>
            </a:r>
            <a:endParaRPr lang="en-US" sz="1400" dirty="0"/>
          </a:p>
          <a:p>
            <a:pPr marL="342900" indent="-342900">
              <a:spcAft>
                <a:spcPts val="600"/>
              </a:spcAft>
              <a:buSzPct val="100000"/>
              <a:buChar char="•"/>
            </a:pPr>
            <a:r>
              <a:rPr lang="en-US" sz="1400" dirty="0">
                <a:solidFill>
                  <a:schemeClr val="tx1"/>
                </a:solidFill>
              </a:rPr>
              <a:t>Global average cost 6.36% vs the 3% UN target (World Bank, Q3 2025)</a:t>
            </a:r>
            <a:endParaRPr lang="en-US" sz="1400" dirty="0"/>
          </a:p>
        </p:txBody>
      </p:sp>
      <p:sp>
        <p:nvSpPr>
          <p:cNvPr id="8" name="col-card-1"/>
          <p:cNvSpPr/>
          <p:nvPr/>
        </p:nvSpPr>
        <p:spPr>
          <a:xfrm>
            <a:off x="4343400" y="2057400"/>
            <a:ext cx="3429000" cy="2834640"/>
          </a:xfrm>
          <a:prstGeom prst="roundRect">
            <a:avLst>
              <a:gd name="adj" fmla="val 3871"/>
            </a:avLst>
          </a:prstGeom>
          <a:solidFill>
            <a:schemeClr val="bg1"/>
          </a:solidFill>
          <a:ln w="12700">
            <a:solidFill>
              <a:srgbClr val="D9E2DD"/>
            </a:solidFill>
            <a:prstDash val="solid"/>
          </a:ln>
        </p:spPr>
      </p:sp>
      <p:sp>
        <p:nvSpPr>
          <p:cNvPr id="9" name="col-pill-1"/>
          <p:cNvSpPr/>
          <p:nvPr/>
        </p:nvSpPr>
        <p:spPr>
          <a:xfrm>
            <a:off x="4617720" y="2240280"/>
            <a:ext cx="1463040" cy="365760"/>
          </a:xfrm>
          <a:prstGeom prst="roundRect">
            <a:avLst>
              <a:gd name="adj" fmla="val 50000"/>
            </a:avLst>
          </a:prstGeom>
          <a:solidFill>
            <a:schemeClr val="bg2"/>
          </a:solidFill>
          <a:ln w="12700">
            <a:solidFill>
              <a:schemeClr val="bg2"/>
            </a:solidFill>
            <a:prstDash val="solid"/>
          </a:ln>
        </p:spPr>
      </p:sp>
      <p:sp>
        <p:nvSpPr>
          <p:cNvPr id="10" name="col-head-1"/>
          <p:cNvSpPr txBox="1"/>
          <p:nvPr/>
        </p:nvSpPr>
        <p:spPr>
          <a:xfrm>
            <a:off x="4617720" y="2240280"/>
            <a:ext cx="1463040" cy="365760"/>
          </a:xfrm>
          <a:prstGeom prst="rect">
            <a:avLst/>
          </a:prstGeom>
          <a:noFill/>
          <a:ln/>
        </p:spPr>
        <p:txBody>
          <a:bodyPr wrap="square" lIns="0" tIns="0" rIns="0" bIns="0" rtlCol="0" anchor="ctr"/>
          <a:lstStyle/>
          <a:p>
            <a:pPr algn="ctr" indent="0" marL="0">
              <a:buNone/>
            </a:pPr>
            <a:r>
              <a:rPr lang="en-US" sz="1200" b="1" dirty="0">
                <a:solidFill>
                  <a:schemeClr val="accent1"/>
                </a:solidFill>
              </a:rPr>
              <a:t>Model</a:t>
            </a:r>
            <a:endParaRPr lang="en-US" sz="1200" dirty="0"/>
          </a:p>
        </p:txBody>
      </p:sp>
      <p:sp>
        <p:nvSpPr>
          <p:cNvPr id="11" name="col-list-1"/>
          <p:cNvSpPr txBox="1"/>
          <p:nvPr/>
        </p:nvSpPr>
        <p:spPr>
          <a:xfrm>
            <a:off x="4617720" y="2743200"/>
            <a:ext cx="29260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Free for families, always</a:t>
            </a:r>
            <a:endParaRPr lang="en-US" sz="1400" dirty="0"/>
          </a:p>
          <a:p>
            <a:pPr marL="342900" indent="-342900">
              <a:spcAft>
                <a:spcPts val="600"/>
              </a:spcAft>
              <a:buSzPct val="100000"/>
              <a:buChar char="•"/>
            </a:pPr>
            <a:r>
              <a:rPr lang="en-US" sz="1400" dirty="0">
                <a:solidFill>
                  <a:schemeClr val="tx1"/>
                </a:solidFill>
              </a:rPr>
              <a:t>Credit unions, consulates and community organizations license a white-label version</a:t>
            </a:r>
            <a:endParaRPr lang="en-US" sz="1400" dirty="0"/>
          </a:p>
          <a:p>
            <a:pPr marL="342900" indent="-342900">
              <a:spcAft>
                <a:spcPts val="600"/>
              </a:spcAft>
              <a:buSzPct val="100000"/>
              <a:buChar char="•"/>
            </a:pPr>
            <a:r>
              <a:rPr lang="en-US" sz="1400" dirty="0">
                <a:solidFill>
                  <a:schemeClr val="tx1"/>
                </a:solidFill>
              </a:rPr>
              <a:t>Never paid by providers. Monito and others take referral fees; we don't</a:t>
            </a:r>
            <a:endParaRPr lang="en-US" sz="1400" dirty="0"/>
          </a:p>
        </p:txBody>
      </p:sp>
      <p:sp>
        <p:nvSpPr>
          <p:cNvPr id="12" name="col-card-2"/>
          <p:cNvSpPr/>
          <p:nvPr/>
        </p:nvSpPr>
        <p:spPr>
          <a:xfrm>
            <a:off x="8001000" y="2057400"/>
            <a:ext cx="3429000" cy="2834640"/>
          </a:xfrm>
          <a:prstGeom prst="roundRect">
            <a:avLst>
              <a:gd name="adj" fmla="val 3871"/>
            </a:avLst>
          </a:prstGeom>
          <a:solidFill>
            <a:schemeClr val="bg1"/>
          </a:solidFill>
          <a:ln w="12700">
            <a:solidFill>
              <a:srgbClr val="D9E2DD"/>
            </a:solidFill>
            <a:prstDash val="solid"/>
          </a:ln>
        </p:spPr>
      </p:sp>
      <p:sp>
        <p:nvSpPr>
          <p:cNvPr id="13" name="col-pill-2"/>
          <p:cNvSpPr/>
          <p:nvPr/>
        </p:nvSpPr>
        <p:spPr>
          <a:xfrm>
            <a:off x="8275320" y="2240280"/>
            <a:ext cx="1463040" cy="365760"/>
          </a:xfrm>
          <a:prstGeom prst="roundRect">
            <a:avLst>
              <a:gd name="adj" fmla="val 50000"/>
            </a:avLst>
          </a:prstGeom>
          <a:solidFill>
            <a:schemeClr val="bg2"/>
          </a:solidFill>
          <a:ln w="12700">
            <a:solidFill>
              <a:schemeClr val="bg2"/>
            </a:solidFill>
            <a:prstDash val="solid"/>
          </a:ln>
        </p:spPr>
      </p:sp>
      <p:sp>
        <p:nvSpPr>
          <p:cNvPr id="14" name="col-head-2"/>
          <p:cNvSpPr txBox="1"/>
          <p:nvPr/>
        </p:nvSpPr>
        <p:spPr>
          <a:xfrm>
            <a:off x="8275320" y="2240280"/>
            <a:ext cx="1463040" cy="365760"/>
          </a:xfrm>
          <a:prstGeom prst="rect">
            <a:avLst/>
          </a:prstGeom>
          <a:noFill/>
          <a:ln/>
        </p:spPr>
        <p:txBody>
          <a:bodyPr wrap="square" lIns="0" tIns="0" rIns="0" bIns="0" rtlCol="0" anchor="ctr"/>
          <a:lstStyle/>
          <a:p>
            <a:pPr algn="ctr" indent="0" marL="0">
              <a:buNone/>
            </a:pPr>
            <a:r>
              <a:rPr lang="en-US" sz="1200" b="1" dirty="0">
                <a:solidFill>
                  <a:schemeClr val="accent1"/>
                </a:solidFill>
              </a:rPr>
              <a:t>Next 90 days</a:t>
            </a:r>
            <a:endParaRPr lang="en-US" sz="1200" dirty="0"/>
          </a:p>
        </p:txBody>
      </p:sp>
      <p:sp>
        <p:nvSpPr>
          <p:cNvPr id="15" name="col-list-2"/>
          <p:cNvSpPr txBox="1"/>
          <p:nvPr/>
        </p:nvSpPr>
        <p:spPr>
          <a:xfrm>
            <a:off x="8275320" y="2743200"/>
            <a:ext cx="292608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WhatsApp Business approval (out of sandbox)</a:t>
            </a:r>
            <a:endParaRPr lang="en-US" sz="1400" dirty="0"/>
          </a:p>
          <a:p>
            <a:pPr marL="342900" indent="-342900">
              <a:spcAft>
                <a:spcPts val="600"/>
              </a:spcAft>
              <a:buSzPct val="100000"/>
              <a:buChar char="•"/>
            </a:pPr>
            <a:r>
              <a:rPr lang="en-US" sz="1400" dirty="0">
                <a:solidFill>
                  <a:schemeClr val="tx1"/>
                </a:solidFill>
              </a:rPr>
              <a:t>Live provider quotes + more corridors (El Salvador, Ecuador)</a:t>
            </a:r>
            <a:endParaRPr lang="en-US" sz="1400" dirty="0"/>
          </a:p>
          <a:p>
            <a:pPr marL="342900" indent="-342900">
              <a:spcAft>
                <a:spcPts val="600"/>
              </a:spcAft>
              <a:buSzPct val="100000"/>
              <a:buChar char="•"/>
            </a:pPr>
            <a:r>
              <a:rPr lang="en-US" sz="1400" dirty="0">
                <a:solidFill>
                  <a:schemeClr val="tx1"/>
                </a:solidFill>
              </a:rPr>
              <a:t>Pilot with a NYC Financial Empowerment Center</a:t>
            </a:r>
            <a:endParaRPr lang="en-US" sz="1400" dirty="0"/>
          </a:p>
        </p:txBody>
      </p:sp>
      <p:sp>
        <p:nvSpPr>
          <p:cNvPr id="16" name="cta-box"/>
          <p:cNvSpPr/>
          <p:nvPr/>
        </p:nvSpPr>
        <p:spPr>
          <a:xfrm>
            <a:off x="685800" y="5120640"/>
            <a:ext cx="10744200" cy="868680"/>
          </a:xfrm>
          <a:prstGeom prst="roundRect">
            <a:avLst>
              <a:gd name="adj" fmla="val 12632"/>
            </a:avLst>
          </a:prstGeom>
          <a:solidFill>
            <a:schemeClr val="tx1"/>
          </a:solidFill>
          <a:ln w="12700">
            <a:solidFill>
              <a:schemeClr val="tx1"/>
            </a:solidFill>
            <a:prstDash val="solid"/>
          </a:ln>
        </p:spPr>
      </p:sp>
      <p:sp>
        <p:nvSpPr>
          <p:cNvPr id="17" name="cta-text"/>
          <p:cNvSpPr txBox="1"/>
          <p:nvPr/>
        </p:nvSpPr>
        <p:spPr>
          <a:xfrm>
            <a:off x="960120" y="5120640"/>
            <a:ext cx="7315200" cy="868680"/>
          </a:xfrm>
          <a:prstGeom prst="rect">
            <a:avLst/>
          </a:prstGeom>
          <a:noFill/>
          <a:ln/>
        </p:spPr>
        <p:txBody>
          <a:bodyPr wrap="square" lIns="0" tIns="0" rIns="0" bIns="0" rtlCol="0" anchor="ctr"/>
          <a:lstStyle/>
          <a:p>
            <a:pPr indent="0" marL="0">
              <a:buNone/>
            </a:pPr>
            <a:r>
              <a:rPr lang="en-US" sz="1800" b="1" dirty="0">
                <a:solidFill>
                  <a:schemeClr val="bg1"/>
                </a:solidFill>
              </a:rPr>
              <a:t>Try it now: </a:t>
            </a:r>
            <a:pPr indent="0" marL="0">
              <a:buNone/>
            </a:pPr>
            <a:r>
              <a:rPr lang="en-US" sz="1800" dirty="0">
                <a:solidFill>
                  <a:schemeClr val="bg1"/>
                </a:solidFill>
              </a:rPr>
              <a:t>envio-claro-ahora.base44.app · +1 (646) 212-2770</a:t>
            </a:r>
            <a:endParaRPr lang="en-US" sz="1800" dirty="0"/>
          </a:p>
        </p:txBody>
      </p:sp>
      <p:sp>
        <p:nvSpPr>
          <p:cNvPr id="18" name="cta-repo"/>
          <p:cNvSpPr txBox="1"/>
          <p:nvPr/>
        </p:nvSpPr>
        <p:spPr>
          <a:xfrm>
            <a:off x="8046720" y="5120640"/>
            <a:ext cx="3154680" cy="868680"/>
          </a:xfrm>
          <a:prstGeom prst="rect">
            <a:avLst/>
          </a:prstGeom>
          <a:noFill/>
          <a:ln/>
        </p:spPr>
        <p:txBody>
          <a:bodyPr wrap="square" lIns="0" tIns="0" rIns="0" bIns="0" rtlCol="0" anchor="ctr"/>
          <a:lstStyle/>
          <a:p>
            <a:pPr algn="r" indent="0" marL="0">
              <a:buNone/>
            </a:pPr>
            <a:r>
              <a:rPr lang="en-US" sz="1200" dirty="0">
                <a:solidFill>
                  <a:schemeClr val="bg2"/>
                </a:solidFill>
              </a:rPr>
              <a:t>github.com/carltonking/envio-claro</a:t>
            </a:r>
            <a:endParaRPr lang="en-US" sz="1200" dirty="0"/>
          </a:p>
        </p:txBody>
      </p:sp>
      <p:sp>
        <p:nvSpPr>
          <p:cNvPr id="25" name="Slide Number Placeholder 0"/>
          <p:cNvSpPr>
            <a:spLocks noGrp="1"/>
          </p:cNvSpPr>
          <p:nvPr>
            <p:ph type="sldNum" sz="quarter" idx="4294967295"/>
          </p:nvPr>
        </p:nvSpPr>
        <p:spPr>
          <a:xfrm>
            <a:off x="1115568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nvio Claro">
  <a:themeElements>
    <a:clrScheme name="Envio Claro">
      <a:dk1>
        <a:srgbClr val="14201B"/>
      </a:dk1>
      <a:lt1>
        <a:srgbClr val="FFFFFF"/>
      </a:lt1>
      <a:dk2>
        <a:srgbClr val="0B6E4F"/>
      </a:dk2>
      <a:lt2>
        <a:srgbClr val="EEF5F1"/>
      </a:lt2>
      <a:accent1>
        <a:srgbClr val="0B6E4F"/>
      </a:accent1>
      <a:accent2>
        <a:srgbClr val="B45309"/>
      </a:accent2>
      <a:accent3>
        <a:srgbClr val="B91C1C"/>
      </a:accent3>
      <a:accent4>
        <a:srgbClr val="1D4ED8"/>
      </a:accent4>
      <a:accent5>
        <a:srgbClr val="FDE68A"/>
      </a:accent5>
      <a:accent6>
        <a:srgbClr val="55635D"/>
      </a:accent6>
      <a:hlink>
        <a:srgbClr val="0B6E4F"/>
      </a:hlink>
      <a:folHlink>
        <a:srgbClr val="095C42"/>
      </a:folHlink>
    </a:clrScheme>
    <a:fontScheme name="Envio Clar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Envío Claro: Pitch Deck</dc:title>
  <dc:subject>PptxGenJS Presentation</dc:subject>
  <dc:creator>Envío Claro</dc:creator>
  <cp:lastModifiedBy>Envío Claro</cp:lastModifiedBy>
  <cp:revision>1</cp:revision>
  <dcterms:created xsi:type="dcterms:W3CDTF">2026-10-10T18:08:12Z</dcterms:created>
  <dcterms:modified xsi:type="dcterms:W3CDTF">2026-10-10T18:08:12Z</dcterms:modified>
</cp:coreProperties>
</file>